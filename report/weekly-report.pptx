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INSTRUCTIONS" id="{BB928E10-A69C-42F6-8B07-A2FEAC067766}">
          <p14:sldIdLst>
            <p14:sldId id="383"/>
            <p14:sldId id="382"/>
          </p14:sldIdLst>
        </p14:section>
        <p14:section name="SLIDE STARTERS" id="{ACC24B29-0CC7-491A-A98A-CF7CBDBE501E}">
          <p14:sldIdLst>
            <p14:sldId id="377"/>
            <p14:sldId id="379"/>
            <p14:sldId id="329"/>
            <p14:sldId id="361"/>
            <p14:sldId id="362"/>
            <p14:sldId id="283"/>
            <p14:sldId id="381"/>
            <p14:sldId id="331"/>
            <p14:sldId id="341"/>
            <p14:sldId id="352"/>
            <p14:sldId id="354"/>
            <p14:sldId id="356"/>
            <p14:sldId id="363"/>
            <p14:sldId id="380"/>
          </p14:sldIdLst>
        </p14:section>
        <p14:section name="THANK YOU" id="{6CD91DAB-8EC3-4802-89E9-0F1C7022FB28}">
          <p14:sldIdLst>
            <p14:sldId id="378"/>
          </p14:sldIdLst>
        </p14:section>
      </p14:sectionLst>
    </p:ex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C5924"/>
    <a:srgbClr val="9DF8FD"/>
    <a:srgbClr val="CC66FF"/>
    <a:srgbClr val="E6E6E6"/>
    <a:srgbClr val="B7472A"/>
    <a:srgbClr val="000000"/>
    <a:srgbClr val="FFFFFF"/>
    <a:srgbClr val="75D1FF"/>
    <a:srgbClr val="11161C"/>
    <a:srgbClr val="7F7F7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15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009" autoAdjust="0"/>
    <p:restoredTop sz="84972" autoAdjust="0"/>
  </p:normalViewPr>
  <p:slideViewPr>
    <p:cSldViewPr snapToGrid="0">
      <p:cViewPr varScale="1">
        <p:scale>
          <a:sx n="75" d="100"/>
          <a:sy n="75" d="100"/>
        </p:scale>
        <p:origin x="-569" y="-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-3162"/>
    </p:cViewPr>
  </p:sorterViewPr>
  <p:notesViewPr>
    <p:cSldViewPr snapToGrid="0">
      <p:cViewPr varScale="1">
        <p:scale>
          <a:sx n="77" d="100"/>
          <a:sy n="77" d="100"/>
        </p:scale>
        <p:origin x="-1806" y="-84"/>
      </p:cViewPr>
      <p:guideLst>
        <p:guide orient="horz" pos="2237"/>
        <p:guide pos="2957"/>
      </p:guideLst>
    </p:cSldViewPr>
  </p:notes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F6FB4"/>
            </a:solidFill>
          </c:spPr>
          <c:cat>
            <c:strRef>
              <c:f>Sheet1!$A$2:$A$8</c:f>
              <c:strCache>
                <c:ptCount val="7"/>
                <c:pt idx="0">
                  <c:v>Tue 21</c:v>
                </c:pt>
                <c:pt idx="1">
                  <c:v>Wed 22</c:v>
                </c:pt>
                <c:pt idx="2">
                  <c:v>Thu 23</c:v>
                </c:pt>
                <c:pt idx="3">
                  <c:v>Fri 24</c:v>
                </c:pt>
                <c:pt idx="4">
                  <c:v>Sat 25</c:v>
                </c:pt>
                <c:pt idx="5">
                  <c:v>Sun 26</c:v>
                </c:pt>
                <c:pt idx="6">
                  <c:v>Mon 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948</c:v>
                </c:pt>
                <c:pt idx="1">
                  <c:v>1027</c:v>
                </c:pt>
                <c:pt idx="2">
                  <c:v>1103</c:v>
                </c:pt>
                <c:pt idx="3">
                  <c:v>1369</c:v>
                </c:pt>
                <c:pt idx="4">
                  <c:v>1663</c:v>
                </c:pt>
                <c:pt idx="5">
                  <c:v>1336</c:v>
                </c:pt>
                <c:pt idx="6">
                  <c:v>986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24292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A737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A737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CCA049B-3A46-4BDA-A8F5-2925B00FE570}" type="datetimeFigureOut">
              <a:rPr lang="en-US" smtClean="0"/>
              <a:pPr/>
              <a:t>10/28/2022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BAA5490-FD59-4087-AC7E-016E8A4124C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9109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4C46CEC-428A-4DD0-A7C7-21AF8DE33E93}" type="datetimeFigureOut">
              <a:rPr lang="en-US" smtClean="0"/>
              <a:pPr/>
              <a:t>10/28/2022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CBCEA92-F142-4D57-B507-37BDAF4471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20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://www.nealanalytics.com/templates/" TargetMode="External"/><Relationship Id="rId4" Type="http://schemas.openxmlformats.org/officeDocument/2006/relationships/hyperlink" Target="http://www.nealanalytics.com/neal-creative/templates/" TargetMode="External"/><Relationship Id="rId5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nealanalytics.com/neal-creative/templates/" TargetMode="Externa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hyperlink" Target="http://www.nealanalytics.com/templates/" TargetMode="External"/><Relationship Id="rId4" Type="http://schemas.openxmlformats.org/officeDocument/2006/relationships/hyperlink" Target="http://www.nealanalytics.com/neal-creative/templates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916229"/>
            <a:ext cx="9107555" cy="3632325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30104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/>
          <p:cNvSpPr/>
          <p:nvPr userDrawn="1"/>
        </p:nvSpPr>
        <p:spPr>
          <a:xfrm>
            <a:off x="3803737" y="-65233"/>
            <a:ext cx="4584526" cy="2297766"/>
          </a:xfrm>
          <a:custGeom>
            <a:avLst/>
            <a:gdLst>
              <a:gd name="connsiteX0" fmla="*/ 278 w 4584526"/>
              <a:gd name="connsiteY0" fmla="*/ 0 h 2297766"/>
              <a:gd name="connsiteX1" fmla="*/ 4584248 w 4584526"/>
              <a:gd name="connsiteY1" fmla="*/ 0 h 2297766"/>
              <a:gd name="connsiteX2" fmla="*/ 4584526 w 4584526"/>
              <a:gd name="connsiteY2" fmla="*/ 5503 h 2297766"/>
              <a:gd name="connsiteX3" fmla="*/ 2292263 w 4584526"/>
              <a:gd name="connsiteY3" fmla="*/ 2297766 h 2297766"/>
              <a:gd name="connsiteX4" fmla="*/ 0 w 4584526"/>
              <a:gd name="connsiteY4" fmla="*/ 5503 h 229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526" h="2297766">
                <a:moveTo>
                  <a:pt x="278" y="0"/>
                </a:moveTo>
                <a:lnTo>
                  <a:pt x="4584248" y="0"/>
                </a:lnTo>
                <a:lnTo>
                  <a:pt x="4584526" y="5503"/>
                </a:lnTo>
                <a:cubicBezTo>
                  <a:pt x="4584526" y="1271485"/>
                  <a:pt x="3558245" y="2297766"/>
                  <a:pt x="2292263" y="2297766"/>
                </a:cubicBezTo>
                <a:cubicBezTo>
                  <a:pt x="1026281" y="2297766"/>
                  <a:pt x="0" y="1271485"/>
                  <a:pt x="0" y="5503"/>
                </a:cubicBez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02995" y="3383280"/>
            <a:ext cx="11660405" cy="625641"/>
          </a:xfrm>
          <a:prstGeom prst="rect">
            <a:avLst/>
          </a:prstGeom>
        </p:spPr>
        <p:txBody>
          <a:bodyPr vert="horz" lIns="457200" tIns="45720" rIns="45720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0" kern="1200" spc="40" baseline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923323" y="186061"/>
            <a:ext cx="4376615" cy="627351"/>
          </a:xfrm>
        </p:spPr>
        <p:txBody>
          <a:bodyPr/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1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Section Title Here</a:t>
            </a:r>
          </a:p>
          <a:p>
            <a:pPr lvl="1"/>
            <a:r>
              <a:rPr lang="en-US" dirty="0"/>
              <a:t>1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1" y="4206240"/>
            <a:ext cx="11658600" cy="424732"/>
          </a:xfrm>
        </p:spPr>
        <p:txBody>
          <a:bodyPr lIns="457200" rIns="4572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Add a short summary sentence here about title/statement above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737094" y="1007413"/>
            <a:ext cx="792205" cy="1200329"/>
          </a:xfrm>
        </p:spPr>
        <p:txBody>
          <a:bodyPr wrap="none" anchor="ctr"/>
          <a:lstStyle>
            <a:lvl1pPr algn="ctr">
              <a:defRPr kumimoji="0" lang="en-US" sz="8000" b="1" i="0" u="none" strike="noStrike" kern="1200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xmlns="" val="264187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NUT BASE 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 userDrawn="1"/>
        </p:nvSpPr>
        <p:spPr>
          <a:xfrm>
            <a:off x="2861702" y="157952"/>
            <a:ext cx="6483179" cy="6483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8777" y="2935629"/>
            <a:ext cx="5208335" cy="92782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dots"/>
          <p:cNvSpPr>
            <a:spLocks noChangeAspect="1"/>
          </p:cNvSpPr>
          <p:nvPr userDrawn="1"/>
        </p:nvSpPr>
        <p:spPr>
          <a:xfrm>
            <a:off x="3448777" y="745024"/>
            <a:ext cx="5309024" cy="5309025"/>
          </a:xfrm>
          <a:prstGeom prst="ellipse">
            <a:avLst/>
          </a:prstGeom>
          <a:noFill/>
          <a:ln w="184150" cap="rnd" cmpd="sng" algn="ctr">
            <a:solidFill>
              <a:schemeClr val="accent4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06376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dark option FLUSH LEF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xmlns="" val="326628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dark option CENTERED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algn="ctr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xmlns="" val="303163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 dark option FLUSH LE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 b="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xmlns="" val="207573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light option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5648960" y="419100"/>
            <a:ext cx="8940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accent4"/>
                </a:solidFill>
                <a:latin typeface="Arial Black" panose="020B0A04020102020204" pitchFamily="34" charset="0"/>
              </a:rPr>
              <a:t>“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408362" y="5335071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092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Callout with small Non-bullet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597273"/>
            <a:ext cx="4868985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357295"/>
          </a:xfrm>
          <a:prstGeom prst="rect">
            <a:avLst/>
          </a:prstGeom>
        </p:spPr>
        <p:txBody>
          <a:bodyPr lIns="146304" tIns="420624" rIns="146304" anchor="t" anchorCtr="0"/>
          <a:lstStyle>
            <a:lvl1pPr algn="ctr"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599498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779896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92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472751"/>
            <a:ext cx="4566001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0600" y="6484937"/>
            <a:ext cx="4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697329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975558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067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03178 0.0004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>
        <p:tmplLst>
          <p:tmpl lvl="1">
            <p:tnLst>
              <p:par>
                <p:cTn presetID="63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4.375E-6 -4.07407E-6 L 0.03178 0.00047 " pathEditMode="relative" rAng="0" ptsTypes="AA">
                      <p:cBhvr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589" y="2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31800"/>
            <a:ext cx="5371038" cy="1830245"/>
          </a:xfrm>
        </p:spPr>
        <p:txBody>
          <a:bodyPr wrap="square" lIns="146304" rIns="146304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93687" y="3436331"/>
            <a:ext cx="2286000" cy="1802032"/>
          </a:xfrm>
        </p:spPr>
        <p:txBody>
          <a:bodyPr lIns="182880" tIns="146304" rIns="182880"/>
          <a:lstStyle>
            <a:lvl1pPr marL="0" indent="0" algn="l">
              <a:buNone/>
              <a:defRPr sz="1600" b="1">
                <a:latin typeface="+mn-lt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>
                <a:latin typeface="+mn-lt"/>
              </a:defRPr>
            </a:lvl3pPr>
            <a:lvl4pPr marL="0" indent="0" algn="l">
              <a:buNone/>
              <a:defRPr sz="1100">
                <a:latin typeface="+mn-lt"/>
              </a:defRPr>
            </a:lvl4pPr>
            <a:lvl5pPr marL="0" indent="0" algn="l">
              <a:buNone/>
              <a:defRPr sz="11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6101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02834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sz="14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39567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9763006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588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 mod="1"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598127"/>
            <a:ext cx="3714704" cy="2524794"/>
          </a:xfrm>
        </p:spPr>
        <p:txBody>
          <a:bodyPr lIns="91440" rIns="91440"/>
          <a:lstStyle>
            <a:lvl1pPr algn="ctr">
              <a:spcAft>
                <a:spcPts val="3000"/>
              </a:spcAft>
              <a:defRPr sz="24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4168631" y="2598127"/>
            <a:ext cx="3840480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8158238" y="2598127"/>
            <a:ext cx="3773077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Freeform: Shape 10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322" y="339408"/>
            <a:ext cx="2375877" cy="535531"/>
          </a:xfrm>
        </p:spPr>
        <p:txBody>
          <a:bodyPr/>
          <a:lstStyle>
            <a:lvl1pPr algn="ctr"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2879003" y="419100"/>
            <a:ext cx="9084398" cy="13700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386595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58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2483635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4898612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7313589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/>
          </p:nvPr>
        </p:nvSpPr>
        <p:spPr>
          <a:xfrm>
            <a:off x="9728566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97258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712235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7542189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9957166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5127212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70361"/>
            <a:ext cx="12192000" cy="535531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68658" y="2577396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9" hasCustomPrompt="1"/>
          </p:nvPr>
        </p:nvSpPr>
        <p:spPr>
          <a:xfrm>
            <a:off x="2483635" y="2577396"/>
            <a:ext cx="2377440" cy="840230"/>
          </a:xfrm>
        </p:spPr>
        <p:txBody>
          <a:bodyPr lIns="146304" rIns="146304"/>
          <a:lstStyle>
            <a:lvl1pPr algn="ctr">
              <a:defRPr lang="en-US" sz="5400" b="1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0" hasCustomPrompt="1"/>
          </p:nvPr>
        </p:nvSpPr>
        <p:spPr>
          <a:xfrm>
            <a:off x="4898612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1" hasCustomPrompt="1"/>
          </p:nvPr>
        </p:nvSpPr>
        <p:spPr>
          <a:xfrm>
            <a:off x="7313589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22" hasCustomPrompt="1"/>
          </p:nvPr>
        </p:nvSpPr>
        <p:spPr>
          <a:xfrm>
            <a:off x="9728566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xmlns="" val="3249118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 cstate="print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 dirty="0"/>
              <a:t>Click icon to add pictures or go online at…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805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65193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 cstate="print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7561" y="6484937"/>
            <a:ext cx="387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096000" cy="2594043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48957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Slide Number Placeholder 7"/>
          <p:cNvSpPr txBox="1">
            <a:spLocks/>
          </p:cNvSpPr>
          <p:nvPr userDrawn="1"/>
        </p:nvSpPr>
        <p:spPr>
          <a:xfrm>
            <a:off x="10343911" y="6498718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7E989-D798-4C62-8E93-3D2D613C248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43957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 cstate="print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12930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8233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 cstate="print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4443" y="3425619"/>
            <a:ext cx="6097555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82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0" y="0"/>
            <a:ext cx="6094444" cy="6856100"/>
          </a:xfrm>
          <a:blipFill>
            <a:blip r:embed="rId2" cstate="print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80534" y="3429000"/>
            <a:ext cx="6011466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180534" y="1554163"/>
            <a:ext cx="57912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176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0" y="0"/>
            <a:ext cx="6094444" cy="6856100"/>
          </a:xfrm>
          <a:blipFill>
            <a:blip r:embed="rId2" cstate="print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38266" y="3457545"/>
            <a:ext cx="6053733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38267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50/50 photo layout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2888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 cstate="print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6000" y="2356398"/>
            <a:ext cx="6096000" cy="2145203"/>
          </a:xfrm>
        </p:spPr>
        <p:txBody>
          <a:bodyPr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ts val="2400"/>
              </a:spcBef>
              <a:spcAft>
                <a:spcPts val="6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spcBef>
                <a:spcPts val="0"/>
              </a:spcBef>
              <a:spcAft>
                <a:spcPts val="600"/>
              </a:spcAft>
              <a:defRPr sz="2800"/>
            </a:lvl2pPr>
            <a:lvl3pPr algn="ctr">
              <a:spcBef>
                <a:spcPts val="0"/>
              </a:spcBef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spcBef>
                <a:spcPts val="0"/>
              </a:spcBef>
              <a:spcAft>
                <a:spcPts val="600"/>
              </a:spcAft>
              <a:defRPr sz="2000" b="1"/>
            </a:lvl4pPr>
            <a:lvl5pPr algn="ctr"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6054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0413" cy="6858000"/>
          </a:xfrm>
          <a:blipFill>
            <a:blip r:embed="rId2" cstate="print"/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r">
              <a:defRPr baseline="0"/>
            </a:lvl1pPr>
          </a:lstStyle>
          <a:p>
            <a:r>
              <a:rPr lang="en-US" dirty="0"/>
              <a:t>Full Bleed Picture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04800" y="3429000"/>
            <a:ext cx="5960269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Headline</a:t>
            </a:r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914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 cstate="print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919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lIns="91440">
            <a:noAutofit/>
          </a:bodyPr>
          <a:lstStyle>
            <a:lvl1pPr algn="ctr">
              <a:defRPr/>
            </a:lvl1pPr>
          </a:lstStyle>
          <a:p>
            <a:r>
              <a:rPr lang="en-US" baseline="0" dirty="0" smtClean="0"/>
              <a:t>Click icon to add picture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652" y="2567613"/>
            <a:ext cx="8804365" cy="1403495"/>
          </a:xfrm>
          <a:prstGeom prst="rect">
            <a:avLst/>
          </a:prstGeom>
        </p:spPr>
        <p:txBody>
          <a:bodyPr/>
          <a:lstStyle>
            <a:lvl1pPr algn="l">
              <a:defRPr lang="en-US" sz="8800" b="1" i="0" kern="1200" spc="1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81150" y="3971108"/>
            <a:ext cx="9461500" cy="757130"/>
          </a:xfrm>
        </p:spPr>
        <p:txBody>
          <a:bodyPr/>
          <a:lstStyle>
            <a:lvl1pPr algn="l">
              <a:defRPr lang="en-US" sz="4800" b="1" i="0" kern="1200" spc="300" dirty="0" smtClea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xmlns="" val="4073567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066954" cy="6858000"/>
          </a:xfrm>
        </p:spPr>
        <p:txBody>
          <a:bodyPr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8395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3648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4BDA58-9C93-4222-A4EC-4BEB46CE06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164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xmlns="" id="{FC5E276D-531E-45A9-B450-EFEC62CDC8DF}"/>
              </a:ext>
            </a:extLst>
          </p:cNvPr>
          <p:cNvSpPr txBox="1"/>
          <p:nvPr userDrawn="1"/>
        </p:nvSpPr>
        <p:spPr>
          <a:xfrm>
            <a:off x="4961284" y="93791"/>
            <a:ext cx="2269433" cy="31651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7" name="TextBox 6">
            <a:hlinkClick r:id="rId4"/>
            <a:extLst/>
          </p:cNvPr>
          <p:cNvSpPr txBox="1"/>
          <p:nvPr userDrawn="1"/>
        </p:nvSpPr>
        <p:spPr>
          <a:xfrm>
            <a:off x="0" y="6548363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tx1"/>
                </a:solidFill>
              </a:rPr>
              <a:t>Neal Creative </a:t>
            </a: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tx1"/>
                </a:solidFill>
              </a:rPr>
              <a:t> 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EF273A61-5610-4355-89F3-7C90515BFCC9}"/>
              </a:ext>
            </a:extLst>
          </p:cNvPr>
          <p:cNvGrpSpPr/>
          <p:nvPr userDrawn="1"/>
        </p:nvGrpSpPr>
        <p:grpSpPr>
          <a:xfrm>
            <a:off x="5976075" y="3634505"/>
            <a:ext cx="1700633" cy="1798732"/>
            <a:chOff x="5976075" y="3634505"/>
            <a:chExt cx="1700633" cy="179873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6A49345F-7A53-4131-8BB4-087032A6CC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6061135" y="4142336"/>
              <a:ext cx="860601" cy="129090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5596D35F-1F19-4447-829C-790DF2B8D2DD}"/>
                </a:ext>
              </a:extLst>
            </p:cNvPr>
            <p:cNvSpPr txBox="1"/>
            <p:nvPr/>
          </p:nvSpPr>
          <p:spPr>
            <a:xfrm>
              <a:off x="5976075" y="3634505"/>
              <a:ext cx="170063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TIP 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│ Use the built-in c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olor palette with green and yellow for callouts and accents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853556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916229"/>
            <a:ext cx="9107555" cy="3632325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TextBox 6">
            <a:hlinkClick r:id="rId2"/>
            <a:extLst>
              <a:ext uri="{FF2B5EF4-FFF2-40B4-BE49-F238E27FC236}">
                <a16:creationId xmlns:a16="http://schemas.microsoft.com/office/drawing/2014/main" xmlns="" id="{B60F28C6-9BA0-4632-B8B5-5A793D03AFC7}"/>
              </a:ext>
            </a:extLst>
          </p:cNvPr>
          <p:cNvSpPr txBox="1"/>
          <p:nvPr userDrawn="1"/>
        </p:nvSpPr>
        <p:spPr>
          <a:xfrm>
            <a:off x="9005881" y="6316156"/>
            <a:ext cx="2466220" cy="36787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</a:rPr>
              <a:t>Neal Creative</a:t>
            </a:r>
            <a:r>
              <a:rPr lang="en-US" sz="1100" baseline="0" dirty="0">
                <a:solidFill>
                  <a:schemeClr val="tx1"/>
                </a:solidFill>
              </a:rPr>
              <a:t>  | click &amp; </a:t>
            </a:r>
            <a:r>
              <a:rPr lang="en-US" sz="1100" b="1" baseline="0" dirty="0">
                <a:solidFill>
                  <a:schemeClr val="tx1"/>
                </a:solidFill>
              </a:rPr>
              <a:t>Learn more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xmlns="" id="{E516C148-33F4-423B-AB9D-096AA82E12F1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Neal Creative </a:t>
            </a:r>
            <a:r>
              <a:rPr lang="en-US" sz="900" kern="120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6620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 cstate="print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xmlns="" id="{B2DA80A1-9E22-4BFF-8562-466123B36943}"/>
              </a:ext>
            </a:extLst>
          </p:cNvPr>
          <p:cNvSpPr txBox="1"/>
          <p:nvPr userDrawn="1"/>
        </p:nvSpPr>
        <p:spPr>
          <a:xfrm>
            <a:off x="9089198" y="6298102"/>
            <a:ext cx="2466220" cy="367873"/>
          </a:xfrm>
          <a:prstGeom prst="roundRect">
            <a:avLst>
              <a:gd name="adj" fmla="val 50000"/>
            </a:avLst>
          </a:prstGeom>
          <a:solidFill>
            <a:srgbClr val="004568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419099"/>
            <a:ext cx="8917577" cy="6259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xmlns="" id="{1AF511EA-044E-4300-B921-D56138FE402E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n-US" sz="9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en-US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623406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75347"/>
            <a:ext cx="11658600" cy="18707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04800" y="419100"/>
            <a:ext cx="11658600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6051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12" r:id="rId2"/>
    <p:sldLayoutId id="2147483672" r:id="rId3"/>
    <p:sldLayoutId id="2147483749" r:id="rId4"/>
    <p:sldLayoutId id="2147483750" r:id="rId5"/>
    <p:sldLayoutId id="2147483752" r:id="rId6"/>
    <p:sldLayoutId id="2147483674" r:id="rId7"/>
    <p:sldLayoutId id="2147483720" r:id="rId8"/>
    <p:sldLayoutId id="2147483721" r:id="rId9"/>
    <p:sldLayoutId id="2147483732" r:id="rId10"/>
    <p:sldLayoutId id="2147483730" r:id="rId11"/>
    <p:sldLayoutId id="2147483716" r:id="rId12"/>
    <p:sldLayoutId id="2147483735" r:id="rId13"/>
    <p:sldLayoutId id="2147483700" r:id="rId14"/>
    <p:sldLayoutId id="2147483734" r:id="rId15"/>
    <p:sldLayoutId id="2147483701" r:id="rId16"/>
    <p:sldLayoutId id="2147483736" r:id="rId17"/>
    <p:sldLayoutId id="2147483733" r:id="rId18"/>
    <p:sldLayoutId id="2147483741" r:id="rId19"/>
    <p:sldLayoutId id="2147483727" r:id="rId20"/>
    <p:sldLayoutId id="2147483719" r:id="rId21"/>
    <p:sldLayoutId id="2147483655" r:id="rId22"/>
    <p:sldLayoutId id="2147483748" r:id="rId23"/>
    <p:sldLayoutId id="2147483753" r:id="rId24"/>
    <p:sldLayoutId id="2147483747" r:id="rId25"/>
    <p:sldLayoutId id="2147483745" r:id="rId26"/>
    <p:sldLayoutId id="2147483737" r:id="rId2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spc="300" dirty="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pos="7536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792" userDrawn="1">
          <p15:clr>
            <a:srgbClr val="F26B43"/>
          </p15:clr>
        </p15:guide>
        <p15:guide id="7" orient="horz" pos="420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Madhar Sha</a:t>
            </a:r>
          </a:p>
          <a:p>
            <a:r>
              <a:t>Week ending 27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6152" y="4709160"/>
            <a:ext cx="9107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A737D"/>
                </a:solidFill>
              </a:rPr>
              <a:t>21 July 2026 to 27 July 2026   ·   7 of 7 days measured   ·   SPECIMEN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continuously, every trading hour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Observation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21 July 2026 to 27 July 2026   ·   Madhar Sha   ·   Prepared by Connecting Dots Strategic Consulting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Scored against CDSC's April 2018 retail framework. Cameras could answer 5 of its 27 items; 3 had data this week. The rest need an inspector.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514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2F6FB4"/>
                </a:solidFill>
              </a:rP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520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737D"/>
                </a:solidFill>
              </a:rPr>
              <a:t>across the 15% of the framework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A737D"/>
                </a:solidFill>
              </a:rPr>
              <a:t>measured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2514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2F6FB4"/>
                </a:solidFill>
              </a:rPr>
              <a:t>3 of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3520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737D"/>
                </a:solidFill>
              </a:rPr>
              <a:t>items measured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A737D"/>
                </a:solidFill>
              </a:rPr>
              <a:t>(5 are camera-answerable at best)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2514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2F6FB4"/>
                </a:solidFill>
              </a:rPr>
              <a:t>8,432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35204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737D"/>
                </a:solidFill>
              </a:rPr>
              <a:t>customers, across the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4709160"/>
            <a:ext cx="11521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4292F"/>
                </a:solidFill>
              </a:rPr>
              <a:t>This is not comparable to a mystery-audit score, and the two numbers above are not the same thing. 15% of the framework was measured this week; 22% is the most a camera could ever answer. The remaining 78% — product display, pricing, ambience, cleanliness, selling skills, product knowledge — needs a person on the floor and always will.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/>
              <a:t>Your busiest day</a:t>
            </a:r>
          </a:p>
          <a:p>
            <a:r>
              <a:rPr sz="1000"/>
              <a:t>1,663 customers, against 948 on Tuesday. A 75% swing across the week — roster against that shape rather than against an average day.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sz="1000"/>
              <a:t>The rush lands here</a:t>
            </a:r>
          </a:p>
          <a:p>
            <a:r>
              <a:rPr sz="1000"/>
              <a:t>Busiest hour on 7 of 7 days. A pattern that repeats is one you can staff against.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sz="1000"/>
              <a:t>Trials goes unserved most</a:t>
            </a:r>
          </a:p>
          <a:p>
            <a:r>
              <a:rPr sz="1000"/>
              <a:t>Of the 78 hours shoppers were in Trials this week, nobody was serving for 4.5 of them.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sz="1000"/>
              <a:t>Longest wait for help: Kids</a:t>
            </a:r>
          </a:p>
          <a:p>
            <a:r>
              <a:rPr sz="1000"/>
              <a:t>Median time a shopper stood in the section before a staff member reached them. Counts only those who were reached.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sz="1000"/>
              <a:t>Framework items we could not answer</a:t>
            </a:r>
          </a:p>
          <a:p>
            <a:r>
              <a:rPr sz="1000"/>
              <a:t>Mapped to a camera measurement, but the capability is not built yet: needs entrance_response; needs staff_clustering.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What to act 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sz="2200" b="1">
                <a:solidFill>
                  <a:srgbClr val="2F6FB4"/>
                </a:solidFill>
              </a:rPr>
              <a:t>Sat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sz="2200" b="1">
                <a:solidFill>
                  <a:srgbClr val="2F6FB4"/>
                </a:solidFill>
              </a:rPr>
              <a:t>19:00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sz="2200" b="1">
                <a:solidFill>
                  <a:srgbClr val="2F6FB4"/>
                </a:solidFill>
              </a:rPr>
              <a:t>6%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sz="2200" b="1">
                <a:solidFill>
                  <a:srgbClr val="2F6FB4"/>
                </a:solidFill>
              </a:rPr>
              <a:t>34 sec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sz="2200" b="1">
                <a:solidFill>
                  <a:srgbClr val="2F6FB4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00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4292F"/>
                </a:solidFill>
              </a:rPr>
              <a:t>Customers, day by day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5156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105156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Total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8,432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Average day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1,205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Best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Saturday — 1,663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Quietest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Tuesday — 948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Swing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4292F"/>
                </a:solidFill>
              </a:rPr>
              <a:t>75% between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00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4292F"/>
                </a:solidFill>
              </a:rPr>
              <a:t>Section by section, across the week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86000"/>
                <a:gridCol w="2194560"/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4292F"/>
                          </a:solidFill>
                        </a:rPr>
                        <a:t>Section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4292F"/>
                          </a:solidFill>
                        </a:rPr>
                        <a:t>Shoppers present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4292F"/>
                          </a:solidFill>
                        </a:rPr>
                        <a:t>Nobody serving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4292F"/>
                          </a:solidFill>
                        </a:rPr>
                        <a:t>Share of that time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4292F"/>
                          </a:solidFill>
                        </a:rPr>
                        <a:t>Typical wait for help</a:t>
                      </a:r>
                    </a:p>
                  </a:txBody>
                  <a:tcPr marL="54864" marR="54864" marT="18288" marB="18288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Billing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73.2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2.0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7D4F"/>
                          </a:solidFill>
                        </a:rPr>
                        <a:t>3%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29 sec</a:t>
                      </a:r>
                    </a:p>
                  </a:txBody>
                  <a:tcPr marL="54864" marR="54864" marT="18288" marB="18288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Casual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77.8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3.8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7D4F"/>
                          </a:solidFill>
                        </a:rPr>
                        <a:t>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34 sec</a:t>
                      </a:r>
                    </a:p>
                  </a:txBody>
                  <a:tcPr marL="54864" marR="54864" marT="18288" marB="18288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Ethnic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78.6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4.2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7D4F"/>
                          </a:solidFill>
                        </a:rPr>
                        <a:t>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34 sec</a:t>
                      </a:r>
                    </a:p>
                  </a:txBody>
                  <a:tcPr marL="54864" marR="54864" marT="18288" marB="18288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Kids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73.0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3.2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7D4F"/>
                          </a:solidFill>
                        </a:rPr>
                        <a:t>4%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34 sec</a:t>
                      </a:r>
                    </a:p>
                  </a:txBody>
                  <a:tcPr marL="54864" marR="54864" marT="18288" marB="18288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Trials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77.7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4.5 hrs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E7D4F"/>
                          </a:solidFill>
                        </a:rPr>
                        <a:t>6%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4292F"/>
                          </a:solidFill>
                        </a:rPr>
                        <a:t>33 sec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467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A737D"/>
                </a:solidFill>
              </a:rPr>
              <a:t>"Nobody serving" counts only the time shoppers were actually in the section — an empty aisle with no staff is a quiet hour, not a coverage failure. The wait counts only shoppers a staff member did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27432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4292F"/>
                </a:solidFill>
              </a:rPr>
              <a:t>CDSC framework — what the cameras could answer 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A737D"/>
                </a:solidFill>
              </a:rPr>
              <a:t>3 of 27 items measured this week (15% of the weight) · 5 are camera-answerable at best (22%)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"/>
                <a:gridCol w="3108960"/>
                <a:gridCol w="2377440"/>
                <a:gridCol w="1645920"/>
                <a:gridCol w="1463040"/>
              </a:tblGrid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Domain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W%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Sub domain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Reading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Verdict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Source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On-Boarding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needs entrance_response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On-Boarding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Relationship Management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34 sec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B85C2A"/>
                          </a:solidFill>
                        </a:rPr>
                        <a:t>Need improvement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F6FB4"/>
                          </a:solidFill>
                        </a:rPr>
                        <a:t>measured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Engagement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E7D4F"/>
                          </a:solidFill>
                        </a:rPr>
                        <a:t>Good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F6FB4"/>
                          </a:solidFill>
                        </a:rPr>
                        <a:t>measured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6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Product Knowledge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Selling Skills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Selling Skills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Process Domain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205 sec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B85C2A"/>
                          </a:solidFill>
                        </a:rPr>
                        <a:t>Need improvement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F6FB4"/>
                          </a:solidFill>
                        </a:rPr>
                        <a:t>measured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Relationship Management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Service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Experience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Service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Infrastructure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Floor Ambience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Infrastructure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Cleanliness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Infrastructure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Comfort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27432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4292F"/>
                </a:solidFill>
              </a:rPr>
              <a:t>CDSC framework — what the cameras could answer 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71323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A737D"/>
                </a:solidFill>
              </a:rPr>
              <a:t>3 of 27 items measured this week (15% of the weight) · 5 are camera-answerable at best (22%)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4712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"/>
                <a:gridCol w="3108960"/>
                <a:gridCol w="2377440"/>
                <a:gridCol w="1645920"/>
                <a:gridCol w="1463040"/>
              </a:tblGrid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Domain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W%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Sub domain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Reading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Verdict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4292F"/>
                          </a:solidFill>
                        </a:rPr>
                        <a:t>Source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Infrastructure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Convenience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Product Display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Product Quality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Product Display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Pricing Display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Assistive Purchase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Customer Convenience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Sales Innovation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Visual Merchandiser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Sweet Spot / Brain Tattoo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Training &amp; Development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Discipline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Training &amp; Development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Communication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Training &amp; Development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Team Work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needs staff_clustering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Training &amp; Development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Service Mindset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4292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Not assessed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6A737D"/>
                          </a:solidFill>
                        </a:rPr>
                        <a:t>inspector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mystery shop sees one hour. This saw every hour.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The part a visit cannot cover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Footfall, peak hour, how full the floor got, and how long each section went unserved — every day, not one. None of it scores in the framework, because a single visit cannot measure it. This week: 8,432 customers, 75% between the best and quietest day.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AK – 08, 11th Main Road, Shanthi Colony,</a:t>
            </a:r>
          </a:p>
          <a:p>
            <a:r>
              <a:t>Annanagar, Chennai – 600040.</a:t>
            </a:r>
          </a:p>
          <a:p>
            <a:r>
              <a:t>Phone : 044 – 48589110 / 9841099110</a:t>
            </a:r>
          </a:p>
          <a:p>
            <a:r>
              <a:t>Email : srinivason.ku@connectingdotsindia.in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Please reach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07A70"/>
                </a:solidFill>
              </a:rPr>
              <a:t>SPECIMEN — NOT MEASUREMENTS OF THIS 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f16401425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OWERFUL Presentations.pptx" id="{F35F1979-0F96-40AB-A8BA-4291EDE5F127}" vid="{D4D34B82-5498-418F-8E4B-B445820BAA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tf16401425</Template>
  <TotalTime>624</TotalTime>
  <Words>2110</Words>
  <Application>Microsoft Office PowerPoint</Application>
  <PresentationFormat>Custom</PresentationFormat>
  <Paragraphs>340</Paragraphs>
  <Slides>25</Slides>
  <Notes>7</Notes>
  <HiddenSlides>0</HiddenSlides>
  <MMClips>0</MMClips>
  <ScaleCrop>false</ScaleCrop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SPECIMEN - Madhar Sha - weekly report, week ending 2026-07-27</dc:title>
  <dc:creator>Connecting Dots Strategic Consulting</dc:creator>
  <cp:lastModifiedBy/>
  <cp:revision>110</cp:revision>
  <dcterms:created xsi:type="dcterms:W3CDTF">2017-12-26T08:37:41Z</dcterms:created>
  <dcterms:modified xsi:type="dcterms:W3CDTF">2022-10-28T07:17:52Z</dcterms:modified>
  <dc:description>Pooled from archived daily runs. The week is only as sound as its weakest day: one synthetic day makes the week synthetic, and any metric flagged on any day is flagged for the week.</dc:description>
</cp:coreProperties>
</file>